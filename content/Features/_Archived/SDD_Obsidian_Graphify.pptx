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1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Jumlah relasi</c:v>
                </c:pt>
              </c:strCache>
            </c:strRef>
          </c:tx>
          <c:spPr>
            <a:solidFill>
              <a:srgbClr val="2B3A6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6182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Context Map</c:v>
                  </c:pt>
                  <c:pt idx="1">
                    <c:v>ValidationPopup</c:v>
                  </c:pt>
                  <c:pt idx="2">
                    <c:v>Workflow Test Case → Sheet</c:v>
                  </c:pt>
                  <c:pt idx="3">
                    <c:v>Riset Handoff UI/UX–QA–DEV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</c:v>
                </c:pt>
                <c:pt idx="1">
                  <c:v>11</c:v>
                </c:pt>
                <c:pt idx="2">
                  <c:v>12</c:v>
                </c:pt>
                <c:pt idx="3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400" u="none">
                  <a:solidFill>
                    <a:srgbClr val="16182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6182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0"/>
        </c:scaling>
        <c:delete val="0"/>
        <c:axPos val="b"/>
        <c:majorGridlines>
          <c:spPr>
            <a:ln w="12700" cap="flat">
              <a:solidFill>
                <a:srgbClr val="EAEA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[00:00] Berdiri, jangan di belakang laptop. Jangan mulai bicara sebelum semua duduk.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[00:00-00:08] Tanya satu per satu. TUNGGU tangan naik, sebutkan angkanya. Tulis jawaban di papan — nanti ditagih di menit 01:50.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[00:08] Sebutkan alurnya. Tekankan: ketiganya saling butuh, bukan tiga tool terpisah.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[00:08-00:12] Fondasi seluruh sesi. Jangan buru-buru. Kalau ini nyantol, sisanya mengalir. Tunjuk tabel baris per baris.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[00:08-00:12] Lanjutan konsep. Pembeda yang paling sering kacau di tim. Tekankan baris terakhir.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[00:08] Masuk bagian 1. 22 menit.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[00:08-00:13] Poin utama. Dokumen salah bukan lagi bikin bingung — langsung jadi kode salah.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[00:13] Bukan modelnya bodoh. Ganti model tidak menutup celah.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[00:13-00:16] Untuk audiens dev. Valid ≠ benar. Manusia tidak bisa mengejar.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[00:16] Komponen 1 dari 5. Baca kolom kiri dengan nada datar, kolom kanan dengan nada tegas.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[00:16-00:24] Sebutkan satu per satu, satu poin satu tarikan napas. Jangan buru-buru.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[00:20] Poin untuk UI/UX. Pelan. Ini alasan AI mengirim produk yang kelihatan selesai padahal belum.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[00:24-00:28] DEMO: buka SO_Case_QRManagementNegative.md di kiri, SO_QRManagement.feature di kanan. JEDA 3 detik sebelum bicara.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[00:28-00:30] AI percaya begitu saja, tidak curiga. Contoh ini ada di vault kita SEKARANG.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[00:30] Kalimat penutup bagian 1. Ucapkan, jeda, lanjut ke bagian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[00:30] Bagian 2. 22 menit.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[00:30-00:35] Luruskan dulu: ini bukan promosi Obsidian. Vault POS jalan tanpa satu pun community plugin.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[00:30-00:35] Kalau waktu mepet, potong jadi dua: teks polos dan lokal.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[00:35-00:40] Luruskan salah kaprah. Konteks kepanjangan justru menurunkan kualitas. DEMO: buka context-map.md, tunjuk Feature Index.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[00:47-00:52] Ini engsel ke bagian 3. Pelan. Jangan buru-buru.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[00:52-01:02] Pasang timer. Buka graph.html biar ter-render. Cek tab canvas. Minum.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[01:02] Bagian 3. 30 menit. Bagian terpanjang, paling banyak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[01:02-01:07] Untuk audiens dev. Tekankan: tanpa vector store, tiap edge bisa ditunjuk alasannya.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[01:07-01:12] JEDA setelah angkanya muncul. Biarkan mendarat sebelum bicara lagi.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[01:12-01:20] Cara baca: kalau salah satu berubah, banyak dokumen ikut goyah. Informasi berguna SEBELUM mengubah sesuatu.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[01:12-01:20] INI PUNCAKNYA. Pelan. Setelah poin ketiga, JEDA EMPAT DETIK. Jangan menyelamatkan keheningan.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[01:20-01:26] DEMO: buka satu note ekspor di Obsidian, tunjuk EXTRACTED dan INFERRED bersebelahan.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[01:30-01:32] Kalimat penutup bagian 3. Setelah ini TUTUP LAPTOP untuk bagian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[01:32] Skrip menyarankan TANPA LAYAR di bagian ini. Tutup laptop, maju selangkah. Slide 28-30 disediakan sebagai cadangan / bahan bagikan.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[01:32-01:38] Ceritakan apa adanya. Ini yang bikin materi kredibel di depan dev.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[01:38-01:43] Angka jujur. Sebut juga bahwa klaim hemat 70x itu materi promosi blog, bukan pengukuran.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[01:43-01:48] Tutup dengan saran serius: kalau tim belum sanggup merawat spec, jangan mulai SDD.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[01:50-01:55] Tunjuk jawaban yang tadi ditulis di papan. Ini penguncinya.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[01:55-01:57] Jangan mulai dari graphify. Tekankan kalimat terakhir.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[01:57-02:00] Kalau hening lebih dari 5 detik, pancing sendiri: “Ini nggak bikin kerjaan nambah?” Jawab: iya, di depan.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85800" y="182880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Spec-Driven Development,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Obsidian, dan Graphify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85800" y="3794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Kenapa AI ngarang soal produk kita — dan apa yang bisa kita lakukan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85800" y="59436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session  ·  120 menit  ·  UI/UX + Engineering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85800" y="640080"/>
            <a:ext cx="10817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 pertanyaan dulu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685800" y="1828800"/>
            <a:ext cx="5120640" cy="2377440"/>
          </a:xfrm>
          <a:prstGeom prst="roundRect">
            <a:avLst>
              <a:gd name="adj" fmla="val 3846"/>
            </a:avLst>
          </a:prstGeom>
          <a:solidFill>
            <a:srgbClr val="2B3A67"/>
          </a:solidFill>
          <a:ln/>
        </p:spPr>
      </p:sp>
      <p:sp>
        <p:nvSpPr>
          <p:cNvPr id="5" name="Shape 2"/>
          <p:cNvSpPr/>
          <p:nvPr/>
        </p:nvSpPr>
        <p:spPr>
          <a:xfrm>
            <a:off x="1097280" y="2194560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3"/>
          <p:cNvSpPr/>
          <p:nvPr/>
        </p:nvSpPr>
        <p:spPr>
          <a:xfrm>
            <a:off x="1097280" y="2194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97280" y="278892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Pernah minta AI menjelaskan fitur produk kita — lalu jawabannya ngarang?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63640" y="1828800"/>
            <a:ext cx="5120640" cy="2377440"/>
          </a:xfrm>
          <a:prstGeom prst="roundRect">
            <a:avLst>
              <a:gd name="adj" fmla="val 3846"/>
            </a:avLst>
          </a:prstGeom>
          <a:solidFill>
            <a:srgbClr val="2B3A67"/>
          </a:solidFill>
          <a:ln/>
        </p:spPr>
      </p:sp>
      <p:sp>
        <p:nvSpPr>
          <p:cNvPr id="9" name="Shape 6"/>
          <p:cNvSpPr/>
          <p:nvPr/>
        </p:nvSpPr>
        <p:spPr>
          <a:xfrm>
            <a:off x="6675120" y="2194560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7"/>
          <p:cNvSpPr/>
          <p:nvPr/>
        </p:nvSpPr>
        <p:spPr>
          <a:xfrm>
            <a:off x="6675120" y="2194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675120" y="278892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Berapa lama nyari tahu satu keputusan desain lama itu kenapa diambil?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85800" y="480060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masalah ini sebenarnya masalah yang sama.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Tiga bagian, satu rantai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685800" y="1691640"/>
            <a:ext cx="338328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05840" y="2011680"/>
            <a:ext cx="457200" cy="45720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6" name="Text 3"/>
          <p:cNvSpPr/>
          <p:nvPr/>
        </p:nvSpPr>
        <p:spPr>
          <a:xfrm>
            <a:off x="10058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05840" y="26974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SDD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100584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Menetapkan aturan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05840" y="35204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yang benar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398264" y="1691640"/>
            <a:ext cx="338328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18304" y="2011680"/>
            <a:ext cx="457200" cy="457200"/>
          </a:xfrm>
          <a:prstGeom prst="ellipse">
            <a:avLst/>
          </a:prstGeom>
          <a:solidFill>
            <a:srgbClr val="2F7D6E"/>
          </a:solidFill>
          <a:ln/>
        </p:spPr>
      </p:sp>
      <p:sp>
        <p:nvSpPr>
          <p:cNvPr id="12" name="Text 9"/>
          <p:cNvSpPr/>
          <p:nvPr/>
        </p:nvSpPr>
        <p:spPr>
          <a:xfrm>
            <a:off x="4718304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718304" y="26974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Obsidian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4718304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Menyimpan aturan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718304" y="35204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mana aturannya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8110728" y="1691640"/>
            <a:ext cx="338328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430768" y="201168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5"/>
          <p:cNvSpPr/>
          <p:nvPr/>
        </p:nvSpPr>
        <p:spPr>
          <a:xfrm>
            <a:off x="8430768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430768" y="26974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Graphify</a:t>
            </a:r>
            <a:endParaRPr lang="en-US" sz="2300" dirty="0"/>
          </a:p>
        </p:txBody>
      </p:sp>
      <p:sp>
        <p:nvSpPr>
          <p:cNvPr id="20" name="Text 17"/>
          <p:cNvSpPr/>
          <p:nvPr/>
        </p:nvSpPr>
        <p:spPr>
          <a:xfrm>
            <a:off x="8430768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Memeriksa aturan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430768" y="35204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Masih nyambung atau tidak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685800" y="484632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SDD, Obsidian cuma aplikasi catatan dan graphify cuma gambar bagus.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85800" y="6144768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contoh diambil dari vault POS kita sendiri — bukan demo bikinan.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 diperlakukan seperti kode sumber</a:t>
            </a:r>
            <a:endParaRPr lang="en-US" sz="3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417320"/>
          <a:ext cx="1081735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52551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DUNIA KODE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62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DUNIA SPEC KITA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code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Features/*.md, _meta/*.md  —  tulisan manusia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graphify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artifact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graphify-out/  —  graph, laporan, wiki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GitLab Wiki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.feature Gherkin + coverage matrix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Linter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wikilink yang wajib valid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685800" y="4709160"/>
            <a:ext cx="10817352" cy="1188720"/>
          </a:xfrm>
          <a:prstGeom prst="roundRect">
            <a:avLst>
              <a:gd name="adj" fmla="val 6154"/>
            </a:avLst>
          </a:prstGeom>
          <a:solidFill>
            <a:srgbClr val="2B3A67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1143000" y="4709160"/>
            <a:ext cx="9902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Arahnya satu: sumber → build → terbit. Kalau isi wiki salah, yang dibetulkan spec-nya.</a:t>
            </a:r>
            <a:endParaRPr lang="en-US" sz="2100" dirty="0"/>
          </a:p>
        </p:txBody>
      </p:sp>
      <p:sp>
        <p:nvSpPr>
          <p:cNvPr id="7" name="Text 3"/>
          <p:cNvSpPr/>
          <p:nvPr/>
        </p:nvSpPr>
        <p:spPr>
          <a:xfrm>
            <a:off x="685800" y="6144768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yang menambal bug dengan mengedit file .exe.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 kelas isi, beda perlakuan</a:t>
            </a:r>
            <a:endParaRPr lang="en-US" sz="3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417320"/>
          <a:ext cx="10817352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3383280"/>
                <a:gridCol w="341071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DITULIS MANUSIA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DIHASILKAN MESIN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Jumlah di vault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 file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415 + 35 file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Biaya membuat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mahal, lambat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murah, cepat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Perlu review?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tidak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Perlu status Draft/Review/Approved?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tidak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Boleh dihapus?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tidak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ya, kapan saja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685800" y="4754880"/>
            <a:ext cx="10817352" cy="1188720"/>
          </a:xfrm>
          <a:prstGeom prst="roundRect">
            <a:avLst>
              <a:gd name="adj" fmla="val 6154"/>
            </a:avLst>
          </a:prstGeom>
          <a:solidFill>
            <a:srgbClr val="E8A33D"/>
          </a:solidFill>
          <a:ln/>
        </p:spPr>
      </p:sp>
      <p:sp>
        <p:nvSpPr>
          <p:cNvPr id="6" name="Text 2"/>
          <p:cNvSpPr/>
          <p:nvPr/>
        </p:nvSpPr>
        <p:spPr>
          <a:xfrm>
            <a:off x="1143000" y="4754880"/>
            <a:ext cx="9902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Kalau dua kelas ini tercampur tanpa penanda, orang mulai memperlakukan tebakan mesin seperti keputusan produk.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85800" y="192024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000" dirty="0"/>
          </a:p>
        </p:txBody>
      </p:sp>
      <p:sp>
        <p:nvSpPr>
          <p:cNvPr id="4" name="Text 1"/>
          <p:cNvSpPr/>
          <p:nvPr/>
        </p:nvSpPr>
        <p:spPr>
          <a:xfrm>
            <a:off x="685800" y="32918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Spec-Driven Development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85800" y="41148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Aturannya apa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Pembaca spec bukan lagi manusia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685800" y="1554480"/>
            <a:ext cx="51206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51560" y="18288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DULU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051560" y="224028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6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Ditulis, dibaca sekali saat kickoff, lalu mengendap di folder. Basi pun tidak apa-apa — yang butuh sudah tahu.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263640" y="1554480"/>
            <a:ext cx="5120640" cy="2377440"/>
          </a:xfrm>
          <a:prstGeom prst="roundRect">
            <a:avLst>
              <a:gd name="adj" fmla="val 3077"/>
            </a:avLst>
          </a:prstGeom>
          <a:solidFill>
            <a:srgbClr val="2B3A67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29400" y="18288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SEKARANG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629400" y="224028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Dibaca ulang tiap kali AI menulis kode. Bukan sekali — tiap kali.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685800" y="4434840"/>
            <a:ext cx="108173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500" b="1" dirty="0">
                <a:solidFill>
                  <a:srgbClr val="16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Dokumen yang salah tidak lagi bikin orang bingung.</a:t>
            </a:r>
            <a:endParaRPr lang="en-US" sz="25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500" b="1" dirty="0">
                <a:solidFill>
                  <a:srgbClr val="16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 langsung jadi kode yang salah.</a:t>
            </a:r>
            <a:endParaRPr lang="en-US" sz="2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Kenapa AI ngarang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85800" y="137160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tidak bisa membedakan “tidak disebutkan” dari “bebas ditentukan”.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685800" y="2194560"/>
            <a:ext cx="420624" cy="420624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2194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07592" y="2157984"/>
            <a:ext cx="10195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Tiap celah diisi tebakan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307592" y="2468880"/>
            <a:ext cx="10195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paling masuk akal secara umum — bukan yang benar untuk produk kita.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85800" y="3200400"/>
            <a:ext cx="420624" cy="420624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3200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307592" y="3163824"/>
            <a:ext cx="10195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Celahnya ada di dokumen, bukan di model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307592" y="3474720"/>
            <a:ext cx="10195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Ganti Sonnet ke Opus, ganti GPT ke Claude — celahnya tetap di situ.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85800" y="4206240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4206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307592" y="4169664"/>
            <a:ext cx="10195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perlu ditutup adalah celahnya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1307592" y="4480560"/>
            <a:ext cx="10195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Itulah kerja spec: menghapus ruang tebakan.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85800" y="5349240"/>
            <a:ext cx="10817352" cy="685800"/>
          </a:xfrm>
          <a:prstGeom prst="roundRect">
            <a:avLst>
              <a:gd name="adj" fmla="val 10667"/>
            </a:avLst>
          </a:prstGeom>
          <a:solidFill>
            <a:srgbClr val="F1EEE6"/>
          </a:solidFill>
          <a:ln/>
        </p:spPr>
      </p:sp>
      <p:sp>
        <p:nvSpPr>
          <p:cNvPr id="18" name="Text 15"/>
          <p:cNvSpPr/>
          <p:nvPr/>
        </p:nvSpPr>
        <p:spPr>
          <a:xfrm>
            <a:off x="1051560" y="5349240"/>
            <a:ext cx="10085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Kalau kalian ganti model, celahnya tetap di situ.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Kecepatan produksi naik. Kecepatan review tetap.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85800" y="1737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Produksi kode oleh AI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3794760" y="1755648"/>
            <a:ext cx="7589520" cy="365760"/>
          </a:xfrm>
          <a:prstGeom prst="roundRect">
            <a:avLst>
              <a:gd name="adj" fmla="val 12500"/>
            </a:avLst>
          </a:prstGeom>
          <a:solidFill>
            <a:srgbClr val="2B3A67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2468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oleh manusia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794760" y="2487168"/>
            <a:ext cx="1920240" cy="365760"/>
          </a:xfrm>
          <a:prstGeom prst="roundRect">
            <a:avLst>
              <a:gd name="adj" fmla="val 12500"/>
            </a:avLst>
          </a:prstGeom>
          <a:solidFill>
            <a:srgbClr val="E8A33D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338328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 bisa jalan sempurna dan tetap salah maksudnya.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85800" y="4114800"/>
            <a:ext cx="10817352" cy="1554480"/>
          </a:xfrm>
          <a:prstGeom prst="roundRect">
            <a:avLst>
              <a:gd name="adj" fmla="val 4706"/>
            </a:avLst>
          </a:prstGeom>
          <a:solidFill>
            <a:srgbClr val="2B3A67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43000" y="4343400"/>
            <a:ext cx="9902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Satu-satunya pemeriksaan yang ikut menskala adalah spec yang menyatakan maksud cukup tegas untuk dibandingkan.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85800" y="6144768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 orangnya yang menskala. Dokumennya.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Kalimat yang bisa diputus benar-salahnya</a:t>
            </a:r>
            <a:endParaRPr lang="en-US" sz="3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54480"/>
          <a:ext cx="10817352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624535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BUKAN SPEC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62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“Harus user friendly”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“Tombol Konfirmasi nonaktif selama keranjang kosong”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“Validasi nomor HP”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“Nomor HP &lt; 10 digit → tombol nonaktif, pesan: Nomor HP belum lengkap”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“Tampilkan promo”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“Promo Produk di kartu item; Diskon Transaksi di ringkasan bawah”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685800" y="502920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Kalau tidak bisa dibilang lulus atau gagal, itu bukan requirement — itu harapan.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Lima komponen yang menanggung beban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685800" y="1508760"/>
            <a:ext cx="420624" cy="420624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5" name="Text 2"/>
          <p:cNvSpPr/>
          <p:nvPr/>
        </p:nvSpPr>
        <p:spPr>
          <a:xfrm>
            <a:off x="685800" y="1508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307592" y="1472184"/>
            <a:ext cx="10195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Kalimat bisa diputus benar-salahnya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307592" y="1783080"/>
            <a:ext cx="10195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 “user friendly”, tapi kondisi yang bisa diperiksa.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85800" y="2441448"/>
            <a:ext cx="420624" cy="420624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24414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307592" y="2404872"/>
            <a:ext cx="10195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yang stabil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307592" y="2715768"/>
            <a:ext cx="10195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SO-JRN-C7, BR-01, PAGE-04. Nyambungin spec → test → kode → coverage.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85800" y="3374136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" y="3374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307592" y="3337560"/>
            <a:ext cx="10195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Lima state per halaman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1307592" y="3648456"/>
            <a:ext cx="10195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Happy, empty, loading, error, recovery.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85800" y="4306824"/>
            <a:ext cx="420624" cy="420624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17" name="Text 14"/>
          <p:cNvSpPr/>
          <p:nvPr/>
        </p:nvSpPr>
        <p:spPr>
          <a:xfrm>
            <a:off x="685800" y="43068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307592" y="4270248"/>
            <a:ext cx="10195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ditulis persis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1307592" y="4581144"/>
            <a:ext cx="10195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 diparafrase. Yang diparafrase pasti berubah saat diimplementasi.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85800" y="5239512"/>
            <a:ext cx="420624" cy="420624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21" name="Text 18"/>
          <p:cNvSpPr/>
          <p:nvPr/>
        </p:nvSpPr>
        <p:spPr>
          <a:xfrm>
            <a:off x="685800" y="5239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307592" y="5202936"/>
            <a:ext cx="10195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 Given/When/Then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1307592" y="5513832"/>
            <a:ext cx="10195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Langsung bisa diturunkan jadi file Gherkin.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685800" y="6144768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Selebihnya — konteks, non-tujuan, aktor, business rule — penting, tapi lima ini yang bikin spec bisa dieksekusi.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Figma menggambar satu state. Spec menyimpan empat sisanya.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685800" y="1645920"/>
            <a:ext cx="1965960" cy="228600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435608" y="1920240"/>
            <a:ext cx="457200" cy="457200"/>
          </a:xfrm>
          <a:prstGeom prst="ellipse">
            <a:avLst/>
          </a:prstGeom>
          <a:solidFill>
            <a:srgbClr val="2F7D6E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25603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Happy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22960" y="29260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lancar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77240" y="349300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F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DI FIGMA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898648" y="1645920"/>
            <a:ext cx="1965960" cy="228600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48456" y="192024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8"/>
          <p:cNvSpPr/>
          <p:nvPr/>
        </p:nvSpPr>
        <p:spPr>
          <a:xfrm>
            <a:off x="2990088" y="25603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Empty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3035808" y="29260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Belum ada data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2990088" y="349300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DI SPEC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111496" y="1645920"/>
            <a:ext cx="1965960" cy="228600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861304" y="192024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3"/>
          <p:cNvSpPr/>
          <p:nvPr/>
        </p:nvSpPr>
        <p:spPr>
          <a:xfrm>
            <a:off x="5202936" y="25603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Loading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5248656" y="29260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Sedang menunggu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5202936" y="349300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DI SPEC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7324344" y="1645920"/>
            <a:ext cx="1965960" cy="228600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074152" y="192024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8"/>
          <p:cNvSpPr/>
          <p:nvPr/>
        </p:nvSpPr>
        <p:spPr>
          <a:xfrm>
            <a:off x="7415784" y="25603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</a:t>
            </a:r>
            <a:endParaRPr lang="en-US" sz="1900" dirty="0"/>
          </a:p>
        </p:txBody>
      </p:sp>
      <p:sp>
        <p:nvSpPr>
          <p:cNvPr id="22" name="Text 19"/>
          <p:cNvSpPr/>
          <p:nvPr/>
        </p:nvSpPr>
        <p:spPr>
          <a:xfrm>
            <a:off x="7461504" y="29260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Gagal — pesan apa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7415784" y="349300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DI SPEC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9537192" y="1645920"/>
            <a:ext cx="1965960" cy="228600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287000" y="192024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6" name="Text 23"/>
          <p:cNvSpPr/>
          <p:nvPr/>
        </p:nvSpPr>
        <p:spPr>
          <a:xfrm>
            <a:off x="9628632" y="25603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Recovery</a:t>
            </a:r>
            <a:endParaRPr lang="en-US" sz="1900" dirty="0"/>
          </a:p>
        </p:txBody>
      </p:sp>
      <p:sp>
        <p:nvSpPr>
          <p:cNvPr id="27" name="Text 24"/>
          <p:cNvSpPr/>
          <p:nvPr/>
        </p:nvSpPr>
        <p:spPr>
          <a:xfrm>
            <a:off x="9674352" y="29260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gagal, bisa apa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9628632" y="349300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DI SPEC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685800" y="4389120"/>
            <a:ext cx="10817352" cy="1371600"/>
          </a:xfrm>
          <a:prstGeom prst="roundRect">
            <a:avLst>
              <a:gd name="adj" fmla="val 5333"/>
            </a:avLst>
          </a:prstGeom>
          <a:solidFill>
            <a:srgbClr val="2B3A67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143000" y="4526280"/>
            <a:ext cx="9902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yang membangun UI dari Figma saja akan mengirim satu dari lima state — dan kelihatan selesai.</a:t>
            </a:r>
            <a:endParaRPr lang="en-US" sz="2100" dirty="0"/>
          </a:p>
        </p:txBody>
      </p:sp>
      <p:sp>
        <p:nvSpPr>
          <p:cNvPr id="31" name="Text 28"/>
          <p:cNvSpPr/>
          <p:nvPr/>
        </p:nvSpPr>
        <p:spPr>
          <a:xfrm>
            <a:off x="685800" y="6144768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 karena AI kurang pintar. Empat state itu memang tidak ada di file yang dia baca.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Rantai yang sudah tertutup di vault kita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685800" y="1691640"/>
            <a:ext cx="2377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19385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3A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914400" y="245059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SO_Case_*.md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3081528" y="1691640"/>
            <a:ext cx="3840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3474720" y="1691640"/>
            <a:ext cx="2377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703320" y="19385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3A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3703320" y="245059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testcase-from-spec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870448" y="1691640"/>
            <a:ext cx="3840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6263640" y="1691640"/>
            <a:ext cx="2377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92240" y="19385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F7D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6492240" y="245059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.feature Gherkin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659368" y="1691640"/>
            <a:ext cx="3840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9052560" y="1691640"/>
            <a:ext cx="2377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281160" y="19385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9281160" y="245059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coverage-matrix.ps1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685800" y="397764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Kalimat yang sama muncul dua kali. Sekali untuk manusia, sekali untuk mesin.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685800" y="4709160"/>
            <a:ext cx="10817352" cy="1143000"/>
          </a:xfrm>
          <a:prstGeom prst="roundRect">
            <a:avLst>
              <a:gd name="adj" fmla="val 6400"/>
            </a:avLst>
          </a:prstGeom>
          <a:solidFill>
            <a:srgbClr val="2B3A67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43000" y="4709160"/>
            <a:ext cx="99029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 menghasilkan test. Test balik memeriksa spec masih dipatuhi. Lingkarannya menutup.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685800" y="6144768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tanpa test = harapan. Test tanpa spec = tebakan.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 basi lebih berbahaya daripada tidak ada spec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85800" y="132588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Karena AI mempercayainya tanpa curiga.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685800" y="201168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51560" y="22402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SO_PRD.md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51560" y="265176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 0.2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PAGE-01 … PAGE-11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63640" y="201168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29400" y="22402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SO_PRD_MVP.md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629400" y="265176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 MVP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PAGE-01 … PAGE-11  (isi berbeda)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85800" y="4206240"/>
            <a:ext cx="10817352" cy="1371600"/>
          </a:xfrm>
          <a:prstGeom prst="roundRect">
            <a:avLst>
              <a:gd name="adj" fmla="val 5333"/>
            </a:avLst>
          </a:prstGeom>
          <a:solidFill>
            <a:srgbClr val="E8A33D"/>
          </a:solidFill>
          <a:ln/>
        </p:spPr>
      </p:sp>
      <p:sp>
        <p:nvSpPr>
          <p:cNvPr id="12" name="Text 9"/>
          <p:cNvSpPr/>
          <p:nvPr/>
        </p:nvSpPr>
        <p:spPr>
          <a:xfrm>
            <a:off x="1143000" y="4343400"/>
            <a:ext cx="9902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100" b="1" dirty="0">
                <a:solidFill>
                  <a:srgbClr val="16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Tanpa diberi tahu mana yang berlaku, AI akan mencampur keduanya —</a:t>
            </a:r>
            <a:endParaRPr lang="en-US" sz="21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100" b="1" dirty="0">
                <a:solidFill>
                  <a:srgbClr val="16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dengan percaya diri penuh.</a:t>
            </a:r>
            <a:endParaRPr lang="en-US" sz="2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85800" y="20116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 bukan formalitas</a:t>
            </a:r>
            <a:endParaRPr lang="en-US" sz="40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sebelum kerja.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685800" y="37490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 itu kerjanya.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85800" y="192024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000" dirty="0"/>
          </a:p>
        </p:txBody>
      </p:sp>
      <p:sp>
        <p:nvSpPr>
          <p:cNvPr id="4" name="Text 1"/>
          <p:cNvSpPr/>
          <p:nvPr/>
        </p:nvSpPr>
        <p:spPr>
          <a:xfrm>
            <a:off x="685800" y="32918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Obsidian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85800" y="41148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mana aturannya tinggal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 penting formatnya, bukan aplikasinya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85800" y="1508760"/>
            <a:ext cx="108173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2600" b="1" dirty="0">
                <a:solidFill>
                  <a:srgbClr val="16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 penting: file markdown biasa di disk lokal.</a:t>
            </a:r>
            <a:endParaRPr lang="en-US" sz="26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2600" b="1" dirty="0">
                <a:solidFill>
                  <a:srgbClr val="16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Obsidian cuma cara nyaman membacanya.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85800" y="2834640"/>
            <a:ext cx="10817352" cy="1371600"/>
          </a:xfrm>
          <a:prstGeom prst="roundRect">
            <a:avLst>
              <a:gd name="adj" fmla="val 5333"/>
            </a:avLst>
          </a:prstGeom>
          <a:solidFill>
            <a:srgbClr val="2B3A67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3000" y="2971800"/>
            <a:ext cx="9902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Kalau besok Obsidian tutup, foldernya tetap folder markdown.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85800" y="457200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POS kita berjalan tanpa satu pun community plugin.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85800" y="6144768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 poin pertama untuk teman-teman dev: nol ketergantungan vendor.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Empat sifat yang bikin format ini menang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685800" y="1600200"/>
            <a:ext cx="51206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51560" y="1920240"/>
            <a:ext cx="420624" cy="420624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6" name="Text 3"/>
          <p:cNvSpPr/>
          <p:nvPr/>
        </p:nvSpPr>
        <p:spPr>
          <a:xfrm>
            <a:off x="1051560" y="1920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645920" y="18928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Teks polos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051560" y="246888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Bisa di-grep, di-diff, masuk git. AI baca file yang persis sama dengan yang kita lihat.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63640" y="1600200"/>
            <a:ext cx="51206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29400" y="1920240"/>
            <a:ext cx="420624" cy="420624"/>
          </a:xfrm>
          <a:prstGeom prst="ellipse">
            <a:avLst/>
          </a:prstGeom>
          <a:solidFill>
            <a:srgbClr val="2F7D6E"/>
          </a:solidFill>
          <a:ln/>
        </p:spPr>
      </p:sp>
      <p:sp>
        <p:nvSpPr>
          <p:cNvPr id="11" name="Text 8"/>
          <p:cNvSpPr/>
          <p:nvPr/>
        </p:nvSpPr>
        <p:spPr>
          <a:xfrm>
            <a:off x="6629400" y="1920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223760" y="18928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Wikilink dipaksa valid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6629400" y="246888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ke dokumen yang tidak ada langsung kelihatan. Pemeriksaan integritas yang jalan terus.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85800" y="3657600"/>
            <a:ext cx="51206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51560" y="3977640"/>
            <a:ext cx="420624" cy="420624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16" name="Text 13"/>
          <p:cNvSpPr/>
          <p:nvPr/>
        </p:nvSpPr>
        <p:spPr>
          <a:xfrm>
            <a:off x="1051560" y="3977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645920" y="39502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Lokal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1051560" y="452628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rate limit, login, atau izin server saat AI membaca 70 dokumen sekaligus.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263640" y="3657600"/>
            <a:ext cx="51206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629400" y="3977640"/>
            <a:ext cx="420624" cy="420624"/>
          </a:xfrm>
          <a:prstGeom prst="ellipse">
            <a:avLst/>
          </a:prstGeom>
          <a:solidFill>
            <a:srgbClr val="2F7D6E"/>
          </a:solidFill>
          <a:ln/>
        </p:spPr>
      </p:sp>
      <p:sp>
        <p:nvSpPr>
          <p:cNvPr id="21" name="Text 18"/>
          <p:cNvSpPr/>
          <p:nvPr/>
        </p:nvSpPr>
        <p:spPr>
          <a:xfrm>
            <a:off x="6629400" y="3977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7223760" y="39502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Tanpa kunci vendor</a:t>
            </a:r>
            <a:endParaRPr lang="en-US" sz="1900" dirty="0"/>
          </a:p>
        </p:txBody>
      </p:sp>
      <p:sp>
        <p:nvSpPr>
          <p:cNvPr id="23" name="Text 20"/>
          <p:cNvSpPr/>
          <p:nvPr/>
        </p:nvSpPr>
        <p:spPr>
          <a:xfrm>
            <a:off x="6629400" y="452628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Riwayat git spec = riwayat keputusan produk. Tidak bisa disandera siapa pun.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Bukan prompt raksasa — basis pengetahuan yang bisa dinavigasi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685800" y="1554480"/>
            <a:ext cx="1081735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05840" y="1874520"/>
            <a:ext cx="420624" cy="420624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6" name="Text 3"/>
          <p:cNvSpPr/>
          <p:nvPr/>
        </p:nvSpPr>
        <p:spPr>
          <a:xfrm>
            <a:off x="1005840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600200" y="170078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00200" y="20848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Aturan main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532120" y="1700784"/>
            <a:ext cx="5669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Dibaca otomatis tiap sesi. Tipis — satu layar.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85800" y="2788920"/>
            <a:ext cx="1081735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05840" y="3108960"/>
            <a:ext cx="420624" cy="420624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12" name="Text 9"/>
          <p:cNvSpPr/>
          <p:nvPr/>
        </p:nvSpPr>
        <p:spPr>
          <a:xfrm>
            <a:off x="1005840" y="3108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600200" y="293522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_meta/context-map.md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600200" y="33192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 wilayah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532120" y="2935224"/>
            <a:ext cx="5669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fitur, status, dan pointer ke spec utama.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85800" y="4023360"/>
            <a:ext cx="1081735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05840" y="4343400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5"/>
          <p:cNvSpPr/>
          <p:nvPr/>
        </p:nvSpPr>
        <p:spPr>
          <a:xfrm>
            <a:off x="1005840" y="4343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600200" y="416966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Features/…/SO_PRD.md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600200" y="45537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532120" y="4169664"/>
            <a:ext cx="5669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Ditarik hanya saat fiturnya benar-benar disebut.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85800" y="544068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3A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Indeks dibaca di awal. Detail ditarik saat disebut.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 Obsidian tidak selesaikan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685800" y="1600200"/>
            <a:ext cx="51206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51560" y="18745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Relasi yang tidak kita sadari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051560" y="237744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Obsidian hanya menyimpan relasi yang kita tulis sendiri. Graph View bawaannya cuma menggambar wikilink — kalau dua fitur pakai pola yang sama tapi tidak pernah ditautkan, dia diam saja.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263640" y="1600200"/>
            <a:ext cx="51206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29400" y="18745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Dokumen yang bertentangan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629400" y="237744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ONBOARDING.md kita masih mempromosikan skill yang sudah deprecated di CLAUDE.md. Tidak ada yang protes.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85800" y="4297680"/>
            <a:ext cx="10817352" cy="1280160"/>
          </a:xfrm>
          <a:prstGeom prst="roundRect">
            <a:avLst>
              <a:gd name="adj" fmla="val 5714"/>
            </a:avLst>
          </a:prstGeom>
          <a:solidFill>
            <a:srgbClr val="E8A33D"/>
          </a:solidFill>
          <a:ln/>
        </p:spPr>
      </p:sp>
      <p:sp>
        <p:nvSpPr>
          <p:cNvPr id="11" name="Text 8"/>
          <p:cNvSpPr/>
          <p:nvPr/>
        </p:nvSpPr>
        <p:spPr>
          <a:xfrm>
            <a:off x="1143000" y="4297680"/>
            <a:ext cx="99029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Vault membuat konteks tersedia. Dia tidak membuat konteks konsisten.</a:t>
            </a:r>
            <a:endParaRPr lang="en-US" sz="2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6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85800" y="24688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Rehat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685800" y="35661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menit</a:t>
            </a:r>
            <a:endParaRPr lang="en-US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6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85800" y="192024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8000" dirty="0"/>
          </a:p>
        </p:txBody>
      </p:sp>
      <p:sp>
        <p:nvSpPr>
          <p:cNvPr id="4" name="Text 1"/>
          <p:cNvSpPr/>
          <p:nvPr/>
        </p:nvSpPr>
        <p:spPr>
          <a:xfrm>
            <a:off x="685800" y="32918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Graphify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85800" y="41148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Apakah aturannya masih nyambung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 jalur ekstraksi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685800" y="1600200"/>
            <a:ext cx="512064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51560" y="18745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7D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Struktural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51560" y="2377440"/>
            <a:ext cx="4480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6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AST, deterministik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6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 — tanpa LLM, tanpa API key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6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Jalankan dua kali, hasil sama persis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6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bahasa lewat tree-sitter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051560" y="39776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Biaya: nol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63640" y="1600200"/>
            <a:ext cx="512064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29400" y="18745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Semantik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629400" y="2377440"/>
            <a:ext cx="4480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6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dokumen, PDF, gambar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6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Memakai LLM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6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Paralel, dibagi per kelompok file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6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di-cache untuk build berikutnya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629400" y="39776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Biaya: ada — dibahas nanti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85800" y="484632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vector store. Tanpa embedding. Tiap garis punya alasan yang bisa ditunjuk.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85800" y="6144768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vault kita makan 22 menit — tidak dijalankan live. Langsung ke hasilnya.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6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85800" y="731520"/>
            <a:ext cx="10817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Vault kita, dipetakan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85800" y="201168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5C6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</a:t>
            </a:r>
            <a:endParaRPr lang="en-US" sz="6600" dirty="0"/>
          </a:p>
        </p:txBody>
      </p:sp>
      <p:sp>
        <p:nvSpPr>
          <p:cNvPr id="5" name="Text 2"/>
          <p:cNvSpPr/>
          <p:nvPr/>
        </p:nvSpPr>
        <p:spPr>
          <a:xfrm>
            <a:off x="685800" y="3200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asli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85800" y="3566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tulisan tangan manusia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3474720" y="201168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385</a:t>
            </a:r>
            <a:endParaRPr lang="en-US" sz="6600" dirty="0"/>
          </a:p>
        </p:txBody>
      </p:sp>
      <p:sp>
        <p:nvSpPr>
          <p:cNvPr id="8" name="Text 5"/>
          <p:cNvSpPr/>
          <p:nvPr/>
        </p:nvSpPr>
        <p:spPr>
          <a:xfrm>
            <a:off x="3474720" y="3200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3474720" y="3566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yang terbaca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263640" y="201168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568</a:t>
            </a:r>
            <a:endParaRPr lang="en-US" sz="6600" dirty="0"/>
          </a:p>
        </p:txBody>
      </p:sp>
      <p:sp>
        <p:nvSpPr>
          <p:cNvPr id="11" name="Text 8"/>
          <p:cNvSpPr/>
          <p:nvPr/>
        </p:nvSpPr>
        <p:spPr>
          <a:xfrm>
            <a:off x="6263640" y="3200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garis relasi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263640" y="3566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antar-konsep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9052560" y="201168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6600" dirty="0"/>
          </a:p>
        </p:txBody>
      </p:sp>
      <p:sp>
        <p:nvSpPr>
          <p:cNvPr id="14" name="Text 11"/>
          <p:cNvSpPr/>
          <p:nvPr/>
        </p:nvSpPr>
        <p:spPr>
          <a:xfrm>
            <a:off x="9052560" y="3200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komunitas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9052560" y="3566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terbentuk sendiri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85800" y="4754880"/>
            <a:ext cx="108173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9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 karena mesin menambahkan karangan — karena tiap dokumen isinya banyak konsep,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9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konsep-konsep itu saling nyambung dengan cara yang tidak pernah kita petakan.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God node — pusat gravitasi dokumentasi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85800" y="1463040"/>
          <a:ext cx="10817352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1"/>
          <p:cNvSpPr/>
          <p:nvPr/>
        </p:nvSpPr>
        <p:spPr>
          <a:xfrm>
            <a:off x="685800" y="502920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Kalau salah satu dari empat ini berubah, banyak dokumen lain ikut goyah.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685800" y="6144768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Itu informasi yang berguna sebelum kita mengubah sesuatu — bukan sesudah ada yang komplain.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Tiga koneksi yang tidak ada di dokumen mana pun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685800" y="1463040"/>
            <a:ext cx="10817352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05840" y="1591056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Statis per Meja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669280" y="1591056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309360" y="1591056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 Fisik + QR Antrian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05840" y="2039112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Order dan Waiting List memakai pola QR yang sama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85800" y="2761488"/>
            <a:ext cx="10817352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288950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Multi-Device Satu Open Bill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669280" y="2889504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309360" y="2889504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Antrian Terintegrasi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05840" y="333756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 state bersama yang identik — dipecahkan dua kali, terpisah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85800" y="4059936"/>
            <a:ext cx="10817352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05840" y="418795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Ticket Berlabel PAID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669280" y="418795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6309360" y="418795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QR saat Printer Error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005840" y="4636008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fitur bergantung pada printer yang sama. Kalau mati, dua-duanya kena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85800" y="5440680"/>
            <a:ext cx="10817352" cy="777240"/>
          </a:xfrm>
          <a:prstGeom prst="roundRect">
            <a:avLst>
              <a:gd name="adj" fmla="val 9412"/>
            </a:avLst>
          </a:prstGeom>
          <a:solidFill>
            <a:srgbClr val="E8A33D"/>
          </a:solidFill>
          <a:ln/>
        </p:spPr>
      </p:sp>
      <p:sp>
        <p:nvSpPr>
          <p:cNvPr id="20" name="Text 17"/>
          <p:cNvSpPr/>
          <p:nvPr/>
        </p:nvSpPr>
        <p:spPr>
          <a:xfrm>
            <a:off x="1143000" y="5440680"/>
            <a:ext cx="9902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Tidak ada yang mencari ini. Graph-nya yang menabrak.</a:t>
            </a:r>
            <a:endParaRPr lang="en-US" sz="2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Tiap garis bisa dilacak sumbernya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685800" y="1645920"/>
            <a:ext cx="33832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05840" y="1920240"/>
            <a:ext cx="2103120" cy="411480"/>
          </a:xfrm>
          <a:prstGeom prst="roundRect">
            <a:avLst>
              <a:gd name="adj" fmla="val 13333"/>
            </a:avLst>
          </a:prstGeom>
          <a:solidFill>
            <a:srgbClr val="2F7D6E"/>
          </a:solidFill>
          <a:ln/>
        </p:spPr>
      </p:sp>
      <p:sp>
        <p:nvSpPr>
          <p:cNvPr id="6" name="Text 3"/>
          <p:cNvSpPr/>
          <p:nvPr/>
        </p:nvSpPr>
        <p:spPr>
          <a:xfrm>
            <a:off x="1005840" y="19202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005840" y="25146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Tertulis eksplisit di dokumen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840" y="3474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 1.0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98264" y="1645920"/>
            <a:ext cx="33832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18304" y="1920240"/>
            <a:ext cx="2103120" cy="411480"/>
          </a:xfrm>
          <a:prstGeom prst="roundRect">
            <a:avLst>
              <a:gd name="adj" fmla="val 13333"/>
            </a:avLst>
          </a:prstGeom>
          <a:solidFill>
            <a:srgbClr val="E8A33D"/>
          </a:solidFill>
          <a:ln/>
        </p:spPr>
      </p:sp>
      <p:sp>
        <p:nvSpPr>
          <p:cNvPr id="11" name="Text 8"/>
          <p:cNvSpPr/>
          <p:nvPr/>
        </p:nvSpPr>
        <p:spPr>
          <a:xfrm>
            <a:off x="4718304" y="19202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INFERRED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718304" y="25146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Dugaan mesin, dengan skor keyakinan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718304" y="3474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0,55 – 0,95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110728" y="1645920"/>
            <a:ext cx="33832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430768" y="1920240"/>
            <a:ext cx="2103120" cy="411480"/>
          </a:xfrm>
          <a:prstGeom prst="roundRect">
            <a:avLst>
              <a:gd name="adj" fmla="val 13333"/>
            </a:avLst>
          </a:prstGeom>
          <a:solidFill>
            <a:srgbClr val="5C6280"/>
          </a:solidFill>
          <a:ln/>
        </p:spPr>
      </p:sp>
      <p:sp>
        <p:nvSpPr>
          <p:cNvPr id="16" name="Text 13"/>
          <p:cNvSpPr/>
          <p:nvPr/>
        </p:nvSpPr>
        <p:spPr>
          <a:xfrm>
            <a:off x="8430768" y="19202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430768" y="25146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Mesin ragu — sengaja tidak dibuang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430768" y="3474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 – 0,3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85800" y="4434840"/>
            <a:ext cx="10817352" cy="1280160"/>
          </a:xfrm>
          <a:prstGeom prst="roundRect">
            <a:avLst>
              <a:gd name="adj" fmla="val 5714"/>
            </a:avLst>
          </a:prstGeom>
          <a:solidFill>
            <a:srgbClr val="2B3A67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43000" y="4434840"/>
            <a:ext cx="99029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ini tidak minta dipercaya bulat-bulat. Itu yang membedakannya dari jawaban chatbot.</a:t>
            </a:r>
            <a:endParaRPr lang="en-US" sz="2100" dirty="0"/>
          </a:p>
        </p:txBody>
      </p:sp>
      <p:sp>
        <p:nvSpPr>
          <p:cNvPr id="21" name="Text 18"/>
          <p:cNvSpPr/>
          <p:nvPr/>
        </p:nvSpPr>
        <p:spPr>
          <a:xfrm>
            <a:off x="685800" y="6144768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koneksi tadi statusnya INFERRED — dugaan. Tapi dugaan yang bisa dicek dalam lima menit, dan tiganya benar.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6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85800" y="20116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tidak menciptakan</a:t>
            </a:r>
            <a:endParaRPr lang="en-US" sz="40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pengetahuan.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685800" y="37490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 menagih janji yang sudah kalian tulis.</a:t>
            </a:r>
            <a:endParaRPr lang="en-US" sz="3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6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85800" y="192024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8000" dirty="0"/>
          </a:p>
        </p:txBody>
      </p:sp>
      <p:sp>
        <p:nvSpPr>
          <p:cNvPr id="4" name="Text 1"/>
          <p:cNvSpPr/>
          <p:nvPr/>
        </p:nvSpPr>
        <p:spPr>
          <a:xfrm>
            <a:off x="685800" y="32918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Batas, biaya, dan yang tetap butuh manusia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685800" y="4160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Skrip menyarankan bagian ini disampaikan tanpa layar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 gagal saat pemasangan sungguhan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685800" y="1463040"/>
            <a:ext cx="420624" cy="420624"/>
          </a:xfrm>
          <a:prstGeom prst="ellipse">
            <a:avLst/>
          </a:prstGeom>
          <a:solidFill>
            <a:srgbClr val="5C6280"/>
          </a:solidFill>
          <a:ln/>
        </p:spPr>
      </p:sp>
      <p:sp>
        <p:nvSpPr>
          <p:cNvPr id="5" name="Text 2"/>
          <p:cNvSpPr/>
          <p:nvPr/>
        </p:nvSpPr>
        <p:spPr>
          <a:xfrm>
            <a:off x="685800" y="1463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307592" y="1426464"/>
            <a:ext cx="10195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graphify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307592" y="1737360"/>
            <a:ext cx="10195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Gagal. Nama paketnya graphifyy dengan dua y, perintahnya graphify satu y.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85800" y="2423160"/>
            <a:ext cx="420624" cy="420624"/>
          </a:xfrm>
          <a:prstGeom prst="ellipse">
            <a:avLst/>
          </a:prstGeom>
          <a:solidFill>
            <a:srgbClr val="5C6280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2423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307592" y="2386584"/>
            <a:ext cx="10195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Sambung perintah pakai &amp;&amp;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307592" y="2697480"/>
            <a:ext cx="10195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Error. PowerShell 5.1 tidak mengenal &amp;&amp;. Pemisahnya titik koma.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85800" y="3383280"/>
            <a:ext cx="420624" cy="420624"/>
          </a:xfrm>
          <a:prstGeom prst="ellipse">
            <a:avLst/>
          </a:prstGeom>
          <a:solidFill>
            <a:srgbClr val="5C6280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" y="3383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307592" y="3346704"/>
            <a:ext cx="10195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Perintah install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1307592" y="3657600"/>
            <a:ext cx="10195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Diblokir sistem izin karena menyentuh file konfigurasi.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85800" y="4480560"/>
            <a:ext cx="10817352" cy="1463040"/>
          </a:xfrm>
          <a:prstGeom prst="roundRect">
            <a:avLst>
              <a:gd name="adj" fmla="val 5000"/>
            </a:avLst>
          </a:prstGeom>
          <a:solidFill>
            <a:srgbClr val="E8A33D"/>
          </a:solidFill>
          <a:ln/>
        </p:spPr>
      </p:sp>
      <p:sp>
        <p:nvSpPr>
          <p:cNvPr id="17" name="Text 14"/>
          <p:cNvSpPr/>
          <p:nvPr/>
        </p:nvSpPr>
        <p:spPr>
          <a:xfrm>
            <a:off x="1143000" y="461772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6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89%</a:t>
            </a:r>
            <a:endParaRPr lang="en-US" sz="5200" dirty="0"/>
          </a:p>
        </p:txBody>
      </p:sp>
      <p:sp>
        <p:nvSpPr>
          <p:cNvPr id="18" name="Text 15"/>
          <p:cNvSpPr/>
          <p:nvPr/>
        </p:nvSpPr>
        <p:spPr>
          <a:xfrm>
            <a:off x="3154680" y="461772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6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pertama: 3.588 node — 3.191 di antaranya dari satu bundle Excalidraw 5,1 MB.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6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Itu peta isi plugin orang lain, bukan peta pengetahuan kita.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Biaya yang nyata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685800" y="1645920"/>
            <a:ext cx="33832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05840" y="19202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815 ribu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1005840" y="2697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05840" y="31089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Ekstraksi semantik vault kita, sekali build penuh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98264" y="1645920"/>
            <a:ext cx="33832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18304" y="19202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3A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415 vs 55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4718304" y="2697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718304" y="31089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buatan mesin vs note asli kita di dalam vault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110728" y="1645920"/>
            <a:ext cx="33832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30768" y="19202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7D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Nol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8430768" y="2697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kode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430768" y="31089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Korpus kode murni tidak butuh LLM sama sekali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85800" y="4526280"/>
            <a:ext cx="10817352" cy="1188720"/>
          </a:xfrm>
          <a:prstGeom prst="roundRect">
            <a:avLst>
              <a:gd name="adj" fmla="val 6154"/>
            </a:avLst>
          </a:prstGeom>
          <a:solidFill>
            <a:srgbClr val="F1EEE6"/>
          </a:solidFill>
          <a:ln/>
        </p:spPr>
      </p:sp>
      <p:sp>
        <p:nvSpPr>
          <p:cNvPr id="17" name="Text 14"/>
          <p:cNvSpPr/>
          <p:nvPr/>
        </p:nvSpPr>
        <p:spPr>
          <a:xfrm>
            <a:off x="1143000" y="4526280"/>
            <a:ext cx="9902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Klaim “hemat token 70 kali lipat” yang beredar itu angka dari tulisan blog promosi, bukan pengukuran.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Kalau mau dipakai, ukur sendiri di tempat kita.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 tetap jadi kerjaan kita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685800" y="1554480"/>
            <a:ext cx="420624" cy="420624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5" name="Text 2"/>
          <p:cNvSpPr/>
          <p:nvPr/>
        </p:nvSpPr>
        <p:spPr>
          <a:xfrm>
            <a:off x="685800" y="1554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325880" y="1536192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6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Memutuskan spec mana yang berlaku kalau ada dua versi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85800" y="2331720"/>
            <a:ext cx="420624" cy="420624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23317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325880" y="2313432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6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Menilai garis INFERRED itu benar atau kebetulan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85800" y="3108960"/>
            <a:ext cx="420624" cy="420624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3108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325880" y="3090672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6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Menulis kalimat yang bisa diputus benar-salahnya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685800" y="3886200"/>
            <a:ext cx="420624" cy="420624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3886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325880" y="3867912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6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Merawat status dokumen: Draft → Review → Approved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685800" y="4937760"/>
            <a:ext cx="10817352" cy="1143000"/>
          </a:xfrm>
          <a:prstGeom prst="roundRect">
            <a:avLst>
              <a:gd name="adj" fmla="val 6400"/>
            </a:avLst>
          </a:prstGeom>
          <a:solidFill>
            <a:srgbClr val="16182B"/>
          </a:solidFill>
          <a:ln/>
        </p:spPr>
      </p:sp>
      <p:sp>
        <p:nvSpPr>
          <p:cNvPr id="17" name="Text 14"/>
          <p:cNvSpPr/>
          <p:nvPr/>
        </p:nvSpPr>
        <p:spPr>
          <a:xfrm>
            <a:off x="1143000" y="4937760"/>
            <a:ext cx="99029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Kalau tim belum sanggup merawat spec — jangan mulai SDD.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Setengah jalan lebih buruk daripada tidak sama sekali.</a:t>
            </a:r>
            <a:endParaRPr lang="en-US" sz="1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6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85800" y="731520"/>
            <a:ext cx="10817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Kembali ke dua pertanyaan tadi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685800" y="1828800"/>
            <a:ext cx="5120640" cy="2743200"/>
          </a:xfrm>
          <a:prstGeom prst="roundRect">
            <a:avLst>
              <a:gd name="adj" fmla="val 3333"/>
            </a:avLst>
          </a:prstGeom>
          <a:solidFill>
            <a:srgbClr val="2B3A67"/>
          </a:solidFill>
          <a:ln/>
        </p:spPr>
      </p:sp>
      <p:sp>
        <p:nvSpPr>
          <p:cNvPr id="5" name="Shape 2"/>
          <p:cNvSpPr/>
          <p:nvPr/>
        </p:nvSpPr>
        <p:spPr>
          <a:xfrm>
            <a:off x="1097280" y="2148840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3"/>
          <p:cNvSpPr/>
          <p:nvPr/>
        </p:nvSpPr>
        <p:spPr>
          <a:xfrm>
            <a:off x="1097280" y="2148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97280" y="27432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Kenapa AI ngarang soal produk kita?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97280" y="320040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Karena dia tidak pernah membacanya. Bisa diperbaiki — bukan dengan ganti model, tapi dengan menaruh spec di tempat yang bisa dia baca.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263640" y="1828800"/>
            <a:ext cx="5120640" cy="2743200"/>
          </a:xfrm>
          <a:prstGeom prst="roundRect">
            <a:avLst>
              <a:gd name="adj" fmla="val 3333"/>
            </a:avLst>
          </a:prstGeom>
          <a:solidFill>
            <a:srgbClr val="2B3A67"/>
          </a:solidFill>
          <a:ln/>
        </p:spPr>
      </p:sp>
      <p:sp>
        <p:nvSpPr>
          <p:cNvPr id="10" name="Shape 7"/>
          <p:cNvSpPr/>
          <p:nvPr/>
        </p:nvSpPr>
        <p:spPr>
          <a:xfrm>
            <a:off x="6675120" y="2148840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8"/>
          <p:cNvSpPr/>
          <p:nvPr/>
        </p:nvSpPr>
        <p:spPr>
          <a:xfrm>
            <a:off x="6675120" y="2148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75120" y="27432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Berapa lama nyari tahu keputusan lama?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675120" y="320040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menemukan tiga koneksi lintas fitur yang tidak diketahui siapa pun di tim ini — dalam satu kali build.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85800" y="512064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 karena mesinnya pintar. Karena kita sudah menulis semuanya — cuma tidak pernah melihatnya bersamaan.</a:t>
            </a:r>
            <a:endParaRPr lang="en-US" sz="17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Kalau mau mulai besok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685800" y="1737360"/>
            <a:ext cx="33832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05840" y="196596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1005840" y="29718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6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Satu folder markdown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4398264" y="1737360"/>
            <a:ext cx="33832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18304" y="196596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4718304" y="29718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6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Satu file indeks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8110728" y="1737360"/>
            <a:ext cx="33832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30768" y="196596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12" name="Text 9"/>
          <p:cNvSpPr/>
          <p:nvPr/>
        </p:nvSpPr>
        <p:spPr>
          <a:xfrm>
            <a:off x="8430768" y="29718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6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Satu konvensi penamaan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85800" y="429768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6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Graphify menyusul setelah ada yang layak dipetakan.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685800" y="4937760"/>
            <a:ext cx="10817352" cy="1005840"/>
          </a:xfrm>
          <a:prstGeom prst="roundRect">
            <a:avLst>
              <a:gd name="adj" fmla="val 7273"/>
            </a:avLst>
          </a:prstGeom>
          <a:solidFill>
            <a:srgbClr val="E8A33D"/>
          </a:solidFill>
          <a:ln/>
        </p:spPr>
      </p:sp>
      <p:sp>
        <p:nvSpPr>
          <p:cNvPr id="15" name="Text 12"/>
          <p:cNvSpPr/>
          <p:nvPr/>
        </p:nvSpPr>
        <p:spPr>
          <a:xfrm>
            <a:off x="1143000" y="4937760"/>
            <a:ext cx="9902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Kalau kalian mulai dari tool-nya, yang kalian dapat cuma peta kekacauan yang lebih rapi.</a:t>
            </a:r>
            <a:endParaRPr lang="en-US" sz="2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6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85800" y="22860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Terima kasih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685800" y="33832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Pertanyaan?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85800" y="58521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 lengkap dan skrip:  _meta/Materi_Sharing_SDD_Obsidian_Graphify.md  ·  _meta/Skrip_Presentasi_SDD_Obsidian_Graphify.md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SDD, Obsidian, Graphify</dc:title>
  <dc:subject>PptxGenJS Presentation</dc:subject>
  <dc:creator>Alen</dc:creator>
  <cp:lastModifiedBy>Alen</cp:lastModifiedBy>
  <cp:revision>1</cp:revision>
  <dcterms:created xsi:type="dcterms:W3CDTF">2026-08-06T16:30:12Z</dcterms:created>
  <dcterms:modified xsi:type="dcterms:W3CDTF">2026-08-06T16:30:12Z</dcterms:modified>
</cp:coreProperties>
</file>